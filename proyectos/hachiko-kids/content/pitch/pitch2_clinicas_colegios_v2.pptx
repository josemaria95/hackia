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 i="0">
                <a:solidFill>
                  <a:srgbClr val="5B2D8E"/>
                </a:solidFill>
                <a:latin typeface="Calibri"/>
              </a:rPr>
              <a:t>Hachiko Kids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 i="0">
                <a:solidFill>
                  <a:srgbClr val="F4A261"/>
                </a:solidFill>
                <a:latin typeface="Calibri"/>
              </a:rPr>
              <a:t>Lo que el niño no puede decirte con palabras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App de bienestar emocional infantil — Para clínicas y colegios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¿Cuánta información tiene entre sesiones?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6600"/>
            <a:ext cx="11091672" cy="570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1A1A2E"/>
                </a:solidFill>
                <a:latin typeface="Calibri"/>
              </a:rPr>
              <a:t>Tienen una sesión al mes con el niño.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1A1A2E"/>
                </a:solidFill>
                <a:latin typeface="Calibri"/>
              </a:rPr>
              <a:t>Cuarenta y cinco minutos, quizás una hora.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1A1A2E"/>
                </a:solidFill>
                <a:latin typeface="Calibri"/>
              </a:rPr>
              <a:t>Después el niño vuelve a su casa por 30 días.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2000" b="1" i="0">
                <a:solidFill>
                  <a:srgbClr val="5B2D8E"/>
                </a:solidFill>
                <a:latin typeface="Calibri"/>
              </a:rPr>
              <a:t>¿Qué pasa en esos 30 días?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1A1A2E"/>
                </a:solidFill>
                <a:latin typeface="Calibri"/>
              </a:rPr>
              <a:t>El padre llega a la siguiente consulta y dice 'estuvo más nervioso' o 'tuvo una semana difícil'.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1A1A2E"/>
                </a:solidFill>
                <a:latin typeface="Calibri"/>
              </a:rPr>
              <a:t>Pero no sabe exactamente cuándo, en qué situaciones, cómo reaccionó.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 brecha de información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928116" y="1059480"/>
            <a:ext cx="3200400" cy="1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" y="1239480"/>
            <a:ext cx="3200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8116" y="12754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5B2D8E"/>
                </a:solidFill>
                <a:latin typeface="Calibri"/>
              </a:rPr>
              <a:t>1 hora /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" y="233964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El profesional ve al niño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4276" y="1059480"/>
            <a:ext cx="3200400" cy="1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94276" y="1239480"/>
            <a:ext cx="3200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4276" y="12754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5B2D8E"/>
                </a:solidFill>
                <a:latin typeface="Calibri"/>
              </a:rPr>
              <a:t>~300 horas /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6" y="233964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El padre ve al niño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0436" y="1059480"/>
            <a:ext cx="3200400" cy="180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0436" y="1239480"/>
            <a:ext cx="3200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0436" y="127548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5B2D8E"/>
                </a:solidFill>
                <a:latin typeface="Calibri"/>
              </a:rPr>
              <a:t>1 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436" y="233964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1A1A2E"/>
                </a:solidFill>
                <a:latin typeface="Calibri"/>
              </a:rPr>
              <a:t>Lo que el sistema 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8920"/>
            <a:ext cx="1109167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i="1">
                <a:solidFill>
                  <a:srgbClr val="F4A261"/>
                </a:solidFill>
                <a:latin typeface="Calibri"/>
              </a:rPr>
              <a:t>No es falta de voluntad. Es falta de captura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Los padres no están quietos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8040"/>
            <a:ext cx="11091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Buscan en Google: 'mi hijo tiene rabietas' → 2.4M búsquedas/mes en español</a:t>
            </a:r>
          </a:p>
          <a:p>
            <a:pPr algn="l">
              <a:spcBef>
                <a:spcPts val="10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Llegan a la consulta con una hipótesis formada por internet</a:t>
            </a:r>
          </a:p>
          <a:p>
            <a:pPr algn="l">
              <a:spcBef>
                <a:spcPts val="10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El diagnóstico diferencial se complica</a:t>
            </a:r>
          </a:p>
          <a:p>
            <a:pPr algn="l">
              <a:spcBef>
                <a:spcPts val="10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Y muchos nunca llegan — la lista de espera es de 4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68440"/>
            <a:ext cx="11091672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Calibri"/>
              </a:rPr>
              <a:t>Los que sí llegan a usted, llegaron porque alguien los recomendó.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El ciclo B2B2C — usted es el nodo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8040"/>
            <a:ext cx="1109167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Los padres ya usan la app →  usted recibe datos →  recomienda a más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16680"/>
            <a:ext cx="10817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Profesional recomienda Hachiko Kids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→  Familia descarga y el niño usa la app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→  Datos de 30 días fluyen de vuelta al profesional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→  La sesión es más productiva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→  El padre satisfecho recomienda al profesional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→  Ese nuevo padre busca un profesional que use Hachiko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42760"/>
            <a:ext cx="11091672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  <a:latin typeface="Calibri"/>
              </a:rPr>
              <a:t>Usted es el canal de distribución Y el beneficiario de los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 que vive el niño — 60-90 segundos al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13760"/>
            <a:ext cx="6400800" cy="570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El niño nunca siente que lo están evaluando.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Para él es un juego con su mascota.</a:t>
            </a:r>
          </a:p>
          <a:p>
            <a:pPr>
              <a:spcBef>
                <a:spcPts val="400"/>
              </a:spcBef>
            </a:pPr>
            <a:r>
              <a:rPr sz="800" b="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1.  Abre la app → ve a Luna (su mascota)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2.  Luna está en una situación conductual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3.  El niño elige cómo ayudarla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4.  Selecciona un emoji de cómo se siente él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5.  Luna reacciona positivamente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6.  Micro-actividad opcional (respirar, moverse)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7.  Sticker del día → app se cierra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1013760"/>
            <a:ext cx="4507992" cy="34747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80" y="1196640"/>
            <a:ext cx="42336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✓  Sin texto para pre-lectores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✓  Sin que parezca evaluación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✓  60-90 segundos totales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✓  Retención D7 target: &gt;60%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 que ve el padre — resumen semanal lunes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3040" y="1059480"/>
            <a:ext cx="9262872" cy="3291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96640"/>
            <a:ext cx="889711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📊  Resumen semanal — semana del 17 al 23 mar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Seguimiento de instrucciones: ayudó 4 de 5 veces  ✓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Socialización: prefirió jugar sola 3 de 5 días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Regulación emocional: eligió respirar cuando enojada 2/3 veces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💡  Tip esta semana: Esta noche, antes de dormir, pregúntale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  por un amigo del colegio. No esperes que lo cuente —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  pregunta específico.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34200"/>
            <a:ext cx="1109167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1">
                <a:solidFill>
                  <a:srgbClr val="1A1A2E"/>
                </a:solidFill>
                <a:latin typeface="Calibri"/>
              </a:rPr>
              <a:t>Lenguaje conductual. No diagnósticos. No alarmas. Patrones y acciones.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Modelo B2B2C — su rol en el flywheel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2436" y="1150920"/>
            <a:ext cx="2103120" cy="11887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2436" y="11509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Usted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recomienda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1276" y="1516680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756" y="1150920"/>
            <a:ext cx="210312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62756" y="11509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Familia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descarga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1596" y="1516680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3076" y="1150920"/>
            <a:ext cx="2103120" cy="11887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6" y="11509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Niño usa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1916" y="1516680"/>
            <a:ext cx="365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3396" y="1150920"/>
            <a:ext cx="210312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3396" y="115092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Mejor sesión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recomienda más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77956" y="1150920"/>
            <a:ext cx="118872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  <a:latin typeface="Calibri"/>
              </a:rPr>
              <a:t>↺  vuelve a nodo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" y="2796840"/>
            <a:ext cx="3200400" cy="14630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" y="293400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Clínicas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" y="3254040"/>
            <a:ext cx="3200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" y="375696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paciente activo / 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4276" y="2796840"/>
            <a:ext cx="32004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4276" y="293400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Colegios 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4276" y="3254040"/>
            <a:ext cx="3200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F4A261"/>
                </a:solidFill>
                <a:latin typeface="Calibri"/>
              </a:rPr>
              <a:t>$3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4276" y="375696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niño /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0436" y="2796840"/>
            <a:ext cx="32004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0436" y="293400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Familias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0436" y="3254040"/>
            <a:ext cx="3200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 i="0">
                <a:solidFill>
                  <a:srgbClr val="888899"/>
                </a:solidFill>
                <a:latin typeface="Calibri"/>
              </a:rPr>
              <a:t>$5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0436" y="3756960"/>
            <a:ext cx="3200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mes (opcional)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51320"/>
            <a:ext cx="1109167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1">
                <a:solidFill>
                  <a:srgbClr val="888899"/>
                </a:solidFill>
                <a:latin typeface="Calibri"/>
              </a:rPr>
              <a:t>50 pacientes activos = $400/mes  |  200 niños PIE = $600/mes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 dimensiones conductuales — alineadas con SDQ/CBCL/PIE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8040"/>
            <a:ext cx="182880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9480"/>
            <a:ext cx="1737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Dimensión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968040"/>
            <a:ext cx="384048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1059480"/>
            <a:ext cx="37490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Mecánica en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68040"/>
            <a:ext cx="265176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05948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Padre 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968040"/>
            <a:ext cx="265176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05948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Profesional recibe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70960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44112"/>
            <a:ext cx="168249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Instrucciones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47096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1544112"/>
            <a:ext cx="369417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'Luna necesita ordenar — ¿la ayudas?'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7096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544112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Ayudó 4/5 veces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47096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1544112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Datos 30 días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29328"/>
            <a:ext cx="182880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202480"/>
            <a:ext cx="168249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Socialización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129328"/>
            <a:ext cx="384048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202480"/>
            <a:ext cx="369417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'Luna quiere jugar — ¿sola o con amigos?'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129328"/>
            <a:ext cx="265176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202480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Prefirió sola 3/5 días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129328"/>
            <a:ext cx="265176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2202480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Tendencia semanal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8769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860848"/>
            <a:ext cx="168249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Conducta prosocial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787696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50592" y="2860848"/>
            <a:ext cx="369417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'Otra mascota necesita el juguete de Luna'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787696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860848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Compartió 2/4 veces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787696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2860848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Patrón mensual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46064"/>
            <a:ext cx="182880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519216"/>
            <a:ext cx="168249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Regulación emocional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446064"/>
            <a:ext cx="384048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3519216"/>
            <a:ext cx="369417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'Luna está enojada — ¿qué quiere hacer?'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446064"/>
            <a:ext cx="265176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519216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Eligió respirar 2/3 veces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446064"/>
            <a:ext cx="2651760" cy="658368"/>
          </a:xfrm>
          <a:prstGeom prst="rect">
            <a:avLst/>
          </a:prstGeom>
          <a:solidFill>
            <a:srgbClr val="F3EE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2" y="3519216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Respuesta a estímulos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04432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177584"/>
            <a:ext cx="168249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Ánimo general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4104432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2" y="4177584"/>
            <a:ext cx="369417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Emoción diaria del niño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104432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4177584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Timeline visual por día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104432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4177584"/>
            <a:ext cx="2505456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Historial emocional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Equipo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13760"/>
            <a:ext cx="5362956" cy="432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05200"/>
            <a:ext cx="5180076" cy="36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EDGAR — Canal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759"/>
            <a:ext cx="5180076" cy="51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Coordinó médicos, psicólogos y colegios en PIE (CEAPSI)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Conoce los protocolos, tiempos y personas del sistema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No llegamos como tecnólogos — llegamos habiendo trabajado dentro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7356" y="1013760"/>
            <a:ext cx="5362956" cy="432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8796" y="1105200"/>
            <a:ext cx="5180076" cy="36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JOSE MUÑOZ — Producto &amp;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8796" y="1517759"/>
            <a:ext cx="5180076" cy="51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Data Engineer (Databricks, Azure, Spark)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Sistemas de datos a escala enterprise en LATAM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La app funciona, es segura, maneja datos sensibles de niños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¿Por qué ahora?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0920"/>
            <a:ext cx="457200" cy="4572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509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05200"/>
            <a:ext cx="1049731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+72% urgencias psiquiátricas infantiles post-pandemia (2019-2023)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56760"/>
            <a:ext cx="457200" cy="4572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5676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11040"/>
            <a:ext cx="1049731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Ley 21.430 + Ley TEA — monitoreo continuo obligatorio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62600"/>
            <a:ext cx="457200" cy="4572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626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16880"/>
            <a:ext cx="1049731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PIE — 400.000 niños financiados, partidas abiertas para recursos de apoyo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8440"/>
            <a:ext cx="4572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6844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22720"/>
            <a:ext cx="10497312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 i="0">
                <a:solidFill>
                  <a:srgbClr val="F4A261"/>
                </a:solidFill>
                <a:latin typeface="Calibri"/>
              </a:rPr>
              <a:t>Los padres ya buscan apps — la pregunta es si llegan a usted con datos o con angustia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Tracción — piloto activo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" y="1150920"/>
            <a:ext cx="3108960" cy="2011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6716" y="1425240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MVP desplegado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" y="2156760"/>
            <a:ext cx="29260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APK Android
disponible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39996" y="1150920"/>
            <a:ext cx="3108960" cy="20116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1436" y="1425240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20-30 familias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1436" y="2156760"/>
            <a:ext cx="29260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piloto activo — Mes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4716" y="1150920"/>
            <a:ext cx="3108960" cy="20116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6156" y="1425240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 clínicas + 1 PIE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156" y="2156760"/>
            <a:ext cx="29260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en conversaciones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82640"/>
            <a:ext cx="11091672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74080"/>
            <a:ext cx="10725912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Oferta piloto: 30 días sin costo con sus familias actuales.
Al final: datos reales + decisión informada.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90000" bIns="36000" lIns="36576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Privacidad — lo que más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9480"/>
            <a:ext cx="11091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✓  Datos almacenados en infraestructura enterprise (ISO 27001, SOC 2)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✓  Sin nombre completo del niño — identificación interna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✓  Consentimiento explícito del padre al registrarse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✓  Datos individuales NO comparten con colegios sin autorización del padre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✓  Riesgo severo (autolesión, abuso) → protocolo de derivación inmediata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808520"/>
            <a:ext cx="1109167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i="0">
                <a:solidFill>
                  <a:srgbClr val="F4A261"/>
                </a:solidFill>
                <a:latin typeface="Calibri"/>
              </a:rPr>
              <a:t>La herramienta es de apoyo. La decisión clínica siempre es de usted.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25912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5B2D8E"/>
                </a:solidFill>
                <a:latin typeface="Calibri"/>
              </a:rPr>
              <a:t>¿Quiere saber qué hace su paciente
cuando no está en consulta?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  <a:latin typeface="Calibri"/>
              </a:rPr>
              <a:t>Piloto 30 días — sin costo — con sus familias actuales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725912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5B2D8E"/>
                </a:solidFill>
                <a:latin typeface="Calibri"/>
              </a:rPr>
              <a:t>contacto@hachikokids.com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725912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  <a:latin typeface="Calibri"/>
              </a:rPr>
              <a:t>¿Cuándo nos juntamos a revisar cómo funcionaría en su clínica?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