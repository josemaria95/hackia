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56032"/>
            <a:ext cx="219456" cy="219456"/>
          </a:xfrm>
          <a:prstGeom prst="ellipse">
            <a:avLst/>
          </a:prstGeom>
          <a:solidFill>
            <a:srgbClr val="FDBA74">
              <a:alpha val="65000"/>
            </a:srgbClr>
          </a:solidFill>
          <a:ln w="12700">
            <a:solidFill>
              <a:srgbClr val="FDBA74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96528" y="603504"/>
            <a:ext cx="128016" cy="128016"/>
          </a:xfrm>
          <a:prstGeom prst="ellipse">
            <a:avLst/>
          </a:prstGeom>
          <a:solidFill>
            <a:srgbClr val="A7F3D0">
              <a:alpha val="60000"/>
            </a:srgbClr>
          </a:solidFill>
          <a:ln w="12700">
            <a:solidFill>
              <a:srgbClr val="A7F3D0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164592"/>
            <a:ext cx="109728" cy="109728"/>
          </a:xfrm>
          <a:prstGeom prst="ellipse">
            <a:avLst/>
          </a:prstGeom>
          <a:solidFill>
            <a:srgbClr val="A7F3D0">
              <a:alpha val="50000"/>
            </a:srgbClr>
          </a:solidFill>
          <a:ln w="12700">
            <a:solidFill>
              <a:srgbClr val="A7F3D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4709160"/>
            <a:ext cx="146304" cy="146304"/>
          </a:xfrm>
          <a:prstGeom prst="ellipse">
            <a:avLst/>
          </a:prstGeom>
          <a:solidFill>
            <a:srgbClr val="7B61FF">
              <a:alpha val="55000"/>
            </a:srgbClr>
          </a:solidFill>
          <a:ln w="12700">
            <a:solidFill>
              <a:srgbClr val="7B61FF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2D1B5E">
              <a:alpha val="70000"/>
            </a:srgbClr>
          </a:solidFill>
          <a:ln w="12700">
            <a:solidFill>
              <a:srgbClr val="2D1B5E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2D1B5E">
              <a:alpha val="70000"/>
            </a:srgbClr>
          </a:solidFill>
          <a:ln w="12700">
            <a:solidFill>
              <a:srgbClr val="2D1B5E">
                <a:alpha val="70000"/>
              </a:srgbClr>
            </a:solidFill>
            <a:prstDash val="solid"/>
          </a:ln>
        </p:spPr>
      </p:sp>
      <p:pic>
        <p:nvPicPr>
          <p:cNvPr id="8" name="Image 0" descr="/sessions/happy-dazzling-ritchie/pitch-deck/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457200"/>
            <a:ext cx="2651760" cy="2651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658368"/>
            <a:ext cx="2377440" cy="365760"/>
          </a:xfrm>
          <a:prstGeom prst="roundRect">
            <a:avLst>
              <a:gd name="adj" fmla="val 375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658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INVERSORES · 2026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1170432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hachiko</a:t>
            </a:r>
            <a:endParaRPr lang="en-US" sz="7200" dirty="0"/>
          </a:p>
        </p:txBody>
      </p:sp>
      <p:sp>
        <p:nvSpPr>
          <p:cNvPr id="12" name="Text 9"/>
          <p:cNvSpPr/>
          <p:nvPr/>
        </p:nvSpPr>
        <p:spPr>
          <a:xfrm>
            <a:off x="548640" y="2066544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7B61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kids</a:t>
            </a:r>
            <a:endParaRPr lang="en-US" sz="7200" dirty="0"/>
          </a:p>
        </p:txBody>
      </p:sp>
      <p:sp>
        <p:nvSpPr>
          <p:cNvPr id="13" name="Shape 10"/>
          <p:cNvSpPr/>
          <p:nvPr/>
        </p:nvSpPr>
        <p:spPr>
          <a:xfrm>
            <a:off x="548640" y="3017520"/>
            <a:ext cx="5029200" cy="475488"/>
          </a:xfrm>
          <a:prstGeom prst="roundRect">
            <a:avLst>
              <a:gd name="adj" fmla="val 28846"/>
            </a:avLst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01752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"Traduciendo el juego en bienestar"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712464"/>
            <a:ext cx="2148840" cy="347472"/>
          </a:xfrm>
          <a:prstGeom prst="roundRect">
            <a:avLst>
              <a:gd name="adj" fmla="val 3157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71246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Bienestar Emocional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880360" y="3712464"/>
            <a:ext cx="2148840" cy="347472"/>
          </a:xfrm>
          <a:prstGeom prst="roundRect">
            <a:avLst>
              <a:gd name="adj" fmla="val 3157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80360" y="371246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Crianza Consciente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212080" y="3712464"/>
            <a:ext cx="2148840" cy="347472"/>
          </a:xfrm>
          <a:prstGeom prst="roundRect">
            <a:avLst>
              <a:gd name="adj" fmla="val 3157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12080" y="371246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Psicología Lúdica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4297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hachikokids.com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56032"/>
            <a:ext cx="219456" cy="219456"/>
          </a:xfrm>
          <a:prstGeom prst="ellipse">
            <a:avLst/>
          </a:prstGeom>
          <a:solidFill>
            <a:srgbClr val="FDBA74">
              <a:alpha val="65000"/>
            </a:srgbClr>
          </a:solidFill>
          <a:ln w="12700">
            <a:solidFill>
              <a:srgbClr val="FDBA74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96528" y="603504"/>
            <a:ext cx="128016" cy="128016"/>
          </a:xfrm>
          <a:prstGeom prst="ellipse">
            <a:avLst/>
          </a:prstGeom>
          <a:solidFill>
            <a:srgbClr val="A7F3D0">
              <a:alpha val="60000"/>
            </a:srgbClr>
          </a:solidFill>
          <a:ln w="12700">
            <a:solidFill>
              <a:srgbClr val="A7F3D0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164592"/>
            <a:ext cx="109728" cy="109728"/>
          </a:xfrm>
          <a:prstGeom prst="ellipse">
            <a:avLst/>
          </a:prstGeom>
          <a:solidFill>
            <a:srgbClr val="A7F3D0">
              <a:alpha val="50000"/>
            </a:srgbClr>
          </a:solidFill>
          <a:ln w="12700">
            <a:solidFill>
              <a:srgbClr val="A7F3D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4709160"/>
            <a:ext cx="146304" cy="146304"/>
          </a:xfrm>
          <a:prstGeom prst="ellipse">
            <a:avLst/>
          </a:prstGeom>
          <a:solidFill>
            <a:srgbClr val="7B61FF">
              <a:alpha val="55000"/>
            </a:srgbClr>
          </a:solidFill>
          <a:ln w="12700">
            <a:solidFill>
              <a:srgbClr val="7B61FF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2D1B5E">
              <a:alpha val="75000"/>
            </a:srgbClr>
          </a:solidFill>
          <a:ln w="12700">
            <a:solidFill>
              <a:srgbClr val="2D1B5E">
                <a:alpha val="75000"/>
              </a:srgbClr>
            </a:solidFill>
            <a:prstDash val="solid"/>
          </a:ln>
        </p:spPr>
      </p:sp>
      <p:pic>
        <p:nvPicPr>
          <p:cNvPr id="7" name="Image 0" descr="/sessions/happy-dazzling-ritchie/pitch-deck/ga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737360"/>
            <a:ext cx="2011680" cy="2011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3716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dirty="0">
                <a:solidFill>
                  <a:srgbClr val="7B61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“</a:t>
            </a:r>
            <a:endParaRPr lang="en-US" sz="10000" dirty="0"/>
          </a:p>
        </p:txBody>
      </p:sp>
      <p:sp>
        <p:nvSpPr>
          <p:cNvPr id="9" name="Text 6"/>
          <p:cNvSpPr/>
          <p:nvPr/>
        </p:nvSpPr>
        <p:spPr>
          <a:xfrm>
            <a:off x="502920" y="749808"/>
            <a:ext cx="7132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Cuando un niño tiene una rabieta, se niega ir al colegio, o simplemente se apaga…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02920" y="2715768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9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padre no sabe si es algo que pasará solo,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9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si necesita atención.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02920" y="3749040"/>
            <a:ext cx="3474720" cy="54864"/>
          </a:xfrm>
          <a:prstGeom prst="rect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9136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DBA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el profesional que podría ayudarlo tiene 4 meses de lista de espera.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56032"/>
            <a:ext cx="201168" cy="201168"/>
          </a:xfrm>
          <a:prstGeom prst="ellipse">
            <a:avLst/>
          </a:prstGeom>
          <a:solidFill>
            <a:srgbClr val="7B61FF">
              <a:alpha val="35000"/>
            </a:srgbClr>
          </a:solidFill>
          <a:ln w="12700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585216"/>
            <a:ext cx="109728" cy="109728"/>
          </a:xfrm>
          <a:prstGeom prst="ellipse">
            <a:avLst/>
          </a:prstGeom>
          <a:solidFill>
            <a:srgbClr val="FDBA74">
              <a:alpha val="40000"/>
            </a:srgbClr>
          </a:solidFill>
          <a:ln w="12700">
            <a:solidFill>
              <a:srgbClr val="FDBA7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68512" y="146304"/>
            <a:ext cx="91440" cy="91440"/>
          </a:xfrm>
          <a:prstGeom prst="ellipse">
            <a:avLst/>
          </a:prstGeom>
          <a:solidFill>
            <a:srgbClr val="A7F3D0">
              <a:alpha val="32000"/>
            </a:srgbClr>
          </a:solidFill>
          <a:ln w="12700">
            <a:solidFill>
              <a:srgbClr val="A7F3D0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4709160"/>
            <a:ext cx="128016" cy="128016"/>
          </a:xfrm>
          <a:prstGeom prst="ellipse">
            <a:avLst/>
          </a:prstGeom>
          <a:solidFill>
            <a:srgbClr val="DDD6FE">
              <a:alpha val="45000"/>
            </a:srgbClr>
          </a:solidFill>
          <a:ln w="12700">
            <a:solidFill>
              <a:srgbClr val="DDD6F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347472"/>
            <a:ext cx="109728" cy="5669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035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El problema es más grande de lo que parece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00584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Chile · 405.000 niños entre 4 y 12 años con trastorno del desarrollo o conducta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651760" cy="1572768"/>
          </a:xfrm>
          <a:prstGeom prst="rect">
            <a:avLst/>
          </a:prstGeom>
          <a:solidFill>
            <a:srgbClr val="FDFCFF"/>
          </a:solidFill>
          <a:ln w="12700">
            <a:solidFill>
              <a:srgbClr val="EDE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463040"/>
            <a:ext cx="2651760" cy="640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72768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7B61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405K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566928" y="246888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niños con necesidad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atención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463040"/>
            <a:ext cx="2651760" cy="1572768"/>
          </a:xfrm>
          <a:prstGeom prst="rect">
            <a:avLst/>
          </a:prstGeom>
          <a:solidFill>
            <a:srgbClr val="FDFCFF"/>
          </a:solidFill>
          <a:ln w="12700">
            <a:solidFill>
              <a:srgbClr val="EDE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463040"/>
            <a:ext cx="2651760" cy="64008"/>
          </a:xfrm>
          <a:prstGeom prst="rect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572768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FDBA74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1 de 4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3355848" y="246888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recibe ayuda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oportuna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463040"/>
            <a:ext cx="2651760" cy="1572768"/>
          </a:xfrm>
          <a:prstGeom prst="rect">
            <a:avLst/>
          </a:prstGeom>
          <a:solidFill>
            <a:srgbClr val="FDFCFF"/>
          </a:solidFill>
          <a:ln w="12700">
            <a:solidFill>
              <a:srgbClr val="EDE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463040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572768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D9488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4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6144768" y="2468880"/>
            <a:ext cx="24323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meses de espera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promedio pública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18688"/>
            <a:ext cx="8229600" cy="868680"/>
          </a:xfrm>
          <a:prstGeom prst="rect">
            <a:avLst/>
          </a:prstGeom>
          <a:solidFill>
            <a:srgbClr val="EDE9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27355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privado: 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$60.000–$100.000/consulta.  </a:t>
            </a:r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1A1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público: 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listas de espera.  </a:t>
            </a:r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7B6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padres buscan respuestas en Google.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422452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 MINSAL 2023 · CEAPSI · Encuesta Nacional de Salud Mental Infantil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56032"/>
            <a:ext cx="201168" cy="201168"/>
          </a:xfrm>
          <a:prstGeom prst="ellipse">
            <a:avLst/>
          </a:prstGeom>
          <a:solidFill>
            <a:srgbClr val="7B61FF">
              <a:alpha val="35000"/>
            </a:srgbClr>
          </a:solidFill>
          <a:ln w="12700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585216"/>
            <a:ext cx="109728" cy="109728"/>
          </a:xfrm>
          <a:prstGeom prst="ellipse">
            <a:avLst/>
          </a:prstGeom>
          <a:solidFill>
            <a:srgbClr val="FDBA74">
              <a:alpha val="40000"/>
            </a:srgbClr>
          </a:solidFill>
          <a:ln w="12700">
            <a:solidFill>
              <a:srgbClr val="FDBA7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68512" y="146304"/>
            <a:ext cx="91440" cy="91440"/>
          </a:xfrm>
          <a:prstGeom prst="ellipse">
            <a:avLst/>
          </a:prstGeom>
          <a:solidFill>
            <a:srgbClr val="A7F3D0">
              <a:alpha val="32000"/>
            </a:srgbClr>
          </a:solidFill>
          <a:ln w="12700">
            <a:solidFill>
              <a:srgbClr val="A7F3D0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4709160"/>
            <a:ext cx="128016" cy="128016"/>
          </a:xfrm>
          <a:prstGeom prst="ellipse">
            <a:avLst/>
          </a:prstGeom>
          <a:solidFill>
            <a:srgbClr val="DDD6FE">
              <a:alpha val="45000"/>
            </a:srgbClr>
          </a:solidFill>
          <a:ln w="12700">
            <a:solidFill>
              <a:srgbClr val="DDD6F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347472"/>
            <a:ext cx="109728" cy="566928"/>
          </a:xfrm>
          <a:prstGeom prst="rect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035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La información está en el lugar equivocado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005840"/>
            <a:ext cx="3931920" cy="2651760"/>
          </a:xfrm>
          <a:prstGeom prst="rect">
            <a:avLst/>
          </a:prstGeom>
          <a:solidFill>
            <a:srgbClr val="FDFCFF"/>
          </a:solidFill>
          <a:ln w="12700">
            <a:solidFill>
              <a:srgbClr val="EDE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005840"/>
            <a:ext cx="3931920" cy="640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13385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B6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CLÍNICO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15087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1A1035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1h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594360" y="22677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B61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al mes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" y="267004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sesión · cuestionario en papel · sin datos continuos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005840"/>
            <a:ext cx="3931920" cy="2651760"/>
          </a:xfrm>
          <a:prstGeom prst="rect">
            <a:avLst/>
          </a:prstGeom>
          <a:solidFill>
            <a:srgbClr val="FDFCFF"/>
          </a:solidFill>
          <a:ln w="12700">
            <a:solidFill>
              <a:srgbClr val="EDE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005840"/>
            <a:ext cx="3931920" cy="64008"/>
          </a:xfrm>
          <a:prstGeom prst="rect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13385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DBA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PADRE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83480" y="15087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1A1035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12h</a:t>
            </a:r>
            <a:endParaRPr lang="en-US" sz="5800" dirty="0"/>
          </a:p>
        </p:txBody>
      </p:sp>
      <p:sp>
        <p:nvSpPr>
          <p:cNvPr id="18" name="Text 16"/>
          <p:cNvSpPr/>
          <p:nvPr/>
        </p:nvSpPr>
        <p:spPr>
          <a:xfrm>
            <a:off x="4983480" y="22677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DBA74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al día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74920" y="267004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 cada reacción — pero sin lenguaje para describir patrones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06240" y="2011680"/>
            <a:ext cx="731520" cy="731520"/>
          </a:xfrm>
          <a:prstGeom prst="ellipse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VS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3840480"/>
            <a:ext cx="8321040" cy="804672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40480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Nadie está capturando lo que pasa en el día a día.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56032"/>
            <a:ext cx="219456" cy="219456"/>
          </a:xfrm>
          <a:prstGeom prst="ellipse">
            <a:avLst/>
          </a:prstGeom>
          <a:solidFill>
            <a:srgbClr val="FDBA74">
              <a:alpha val="65000"/>
            </a:srgbClr>
          </a:solidFill>
          <a:ln w="12700">
            <a:solidFill>
              <a:srgbClr val="FDBA74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96528" y="603504"/>
            <a:ext cx="128016" cy="128016"/>
          </a:xfrm>
          <a:prstGeom prst="ellipse">
            <a:avLst/>
          </a:prstGeom>
          <a:solidFill>
            <a:srgbClr val="A7F3D0">
              <a:alpha val="60000"/>
            </a:srgbClr>
          </a:solidFill>
          <a:ln w="12700">
            <a:solidFill>
              <a:srgbClr val="A7F3D0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164592"/>
            <a:ext cx="109728" cy="109728"/>
          </a:xfrm>
          <a:prstGeom prst="ellipse">
            <a:avLst/>
          </a:prstGeom>
          <a:solidFill>
            <a:srgbClr val="A7F3D0">
              <a:alpha val="50000"/>
            </a:srgbClr>
          </a:solidFill>
          <a:ln w="12700">
            <a:solidFill>
              <a:srgbClr val="A7F3D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4709160"/>
            <a:ext cx="146304" cy="146304"/>
          </a:xfrm>
          <a:prstGeom prst="ellipse">
            <a:avLst/>
          </a:prstGeom>
          <a:solidFill>
            <a:srgbClr val="7B61FF">
              <a:alpha val="55000"/>
            </a:srgbClr>
          </a:solidFill>
          <a:ln w="12700">
            <a:solidFill>
              <a:srgbClr val="7B61FF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914400" y="-914400"/>
            <a:ext cx="5029200" cy="5029200"/>
          </a:xfrm>
          <a:prstGeom prst="ellipse">
            <a:avLst/>
          </a:prstGeom>
          <a:solidFill>
            <a:srgbClr val="2D1B5E">
              <a:alpha val="75000"/>
            </a:srgbClr>
          </a:solidFill>
          <a:ln w="12700">
            <a:solidFill>
              <a:srgbClr val="2D1B5E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2D1B5E">
              <a:alpha val="70000"/>
            </a:srgbClr>
          </a:solidFill>
          <a:ln w="12700">
            <a:solidFill>
              <a:srgbClr val="2D1B5E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502920"/>
            <a:ext cx="4754880" cy="347472"/>
          </a:xfrm>
          <a:prstGeom prst="rect">
            <a:avLst/>
          </a:prstGeom>
          <a:solidFill>
            <a:srgbClr val="7B61FF">
              <a:alpha val="8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029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PROPÓSITO — POR QUÉ EXISTIMOS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987552"/>
            <a:ext cx="7955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Cerrar la brecha de comunicación entre el mundo interior del niño y el entendimiento del adulto.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200400" cy="54864"/>
          </a:xfrm>
          <a:prstGeom prst="rect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10128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diagnosticamos.</a:t>
            </a:r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E9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Traducimos comportamientos para que ningún niño se sienta solo — y ningún padre se sienta perdido.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56032"/>
            <a:ext cx="201168" cy="201168"/>
          </a:xfrm>
          <a:prstGeom prst="ellipse">
            <a:avLst/>
          </a:prstGeom>
          <a:solidFill>
            <a:srgbClr val="7B61FF">
              <a:alpha val="35000"/>
            </a:srgbClr>
          </a:solidFill>
          <a:ln w="12700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585216"/>
            <a:ext cx="109728" cy="109728"/>
          </a:xfrm>
          <a:prstGeom prst="ellipse">
            <a:avLst/>
          </a:prstGeom>
          <a:solidFill>
            <a:srgbClr val="FDBA74">
              <a:alpha val="40000"/>
            </a:srgbClr>
          </a:solidFill>
          <a:ln w="12700">
            <a:solidFill>
              <a:srgbClr val="FDBA7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68512" y="146304"/>
            <a:ext cx="91440" cy="91440"/>
          </a:xfrm>
          <a:prstGeom prst="ellipse">
            <a:avLst/>
          </a:prstGeom>
          <a:solidFill>
            <a:srgbClr val="A7F3D0">
              <a:alpha val="32000"/>
            </a:srgbClr>
          </a:solidFill>
          <a:ln w="12700">
            <a:solidFill>
              <a:srgbClr val="A7F3D0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4709160"/>
            <a:ext cx="128016" cy="128016"/>
          </a:xfrm>
          <a:prstGeom prst="ellipse">
            <a:avLst/>
          </a:prstGeom>
          <a:solidFill>
            <a:srgbClr val="DDD6FE">
              <a:alpha val="45000"/>
            </a:srgbClr>
          </a:solidFill>
          <a:ln w="12700">
            <a:solidFill>
              <a:srgbClr val="DDD6F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347472"/>
            <a:ext cx="10972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035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Ya existe. Se llama Hachiko Kids.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069848"/>
            <a:ext cx="502920" cy="5029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69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10607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035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Escenario conductual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8992" y="13716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Situación presentada como aventura de la mascota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9224" y="1572768"/>
            <a:ext cx="0" cy="411480"/>
          </a:xfrm>
          <a:prstGeom prst="line">
            <a:avLst/>
          </a:prstGeom>
          <a:noFill/>
          <a:ln w="19050">
            <a:solidFill>
              <a:srgbClr val="DDD6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029968"/>
            <a:ext cx="502920" cy="502920"/>
          </a:xfrm>
          <a:prstGeom prst="ellipse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20208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035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Emoción del niño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78992" y="23317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niño elige cómo se siente (5 opciones)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9224" y="2532888"/>
            <a:ext cx="0" cy="411480"/>
          </a:xfrm>
          <a:prstGeom prst="line">
            <a:avLst/>
          </a:prstGeom>
          <a:noFill/>
          <a:ln w="19050">
            <a:solidFill>
              <a:srgbClr val="DDD6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990088"/>
            <a:ext cx="502920" cy="50292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8992" y="29809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035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Reacción de Luna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78992" y="329184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mascota responde · el niño aprende jugando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224" y="3493008"/>
            <a:ext cx="0" cy="411480"/>
          </a:xfrm>
          <a:prstGeom prst="line">
            <a:avLst/>
          </a:prstGeom>
          <a:noFill/>
          <a:ln w="19050">
            <a:solidFill>
              <a:srgbClr val="DDD6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950208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78992" y="39410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035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Resumen del lunes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78992" y="42519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Padre recibe patrones + tips concretos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0" y="987552"/>
            <a:ext cx="3657600" cy="1444752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0" y="10515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60–90 seg/día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5029200" y="16916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9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fricción · como Duolingo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29200" y="2560320"/>
            <a:ext cx="3657600" cy="1938528"/>
          </a:xfrm>
          <a:prstGeom prst="rect">
            <a:avLst/>
          </a:prstGeom>
          <a:solidFill>
            <a:srgbClr val="FDFCFF"/>
          </a:solidFill>
          <a:ln w="12700">
            <a:solidFill>
              <a:srgbClr val="EDE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31" name="Image 0" descr="/sessions/happy-dazzling-ritchie/mnt/hachiko-kids/brand/mascotas-ap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74920" y="2606040"/>
            <a:ext cx="3566160" cy="18288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029200" y="4526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mascotas · 5 emociones · 5 dimensiones conductuales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56032"/>
            <a:ext cx="201168" cy="201168"/>
          </a:xfrm>
          <a:prstGeom prst="ellipse">
            <a:avLst/>
          </a:prstGeom>
          <a:solidFill>
            <a:srgbClr val="7B61FF">
              <a:alpha val="35000"/>
            </a:srgbClr>
          </a:solidFill>
          <a:ln w="12700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585216"/>
            <a:ext cx="109728" cy="109728"/>
          </a:xfrm>
          <a:prstGeom prst="ellipse">
            <a:avLst/>
          </a:prstGeom>
          <a:solidFill>
            <a:srgbClr val="FDBA74">
              <a:alpha val="40000"/>
            </a:srgbClr>
          </a:solidFill>
          <a:ln w="12700">
            <a:solidFill>
              <a:srgbClr val="FDBA7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68512" y="146304"/>
            <a:ext cx="91440" cy="91440"/>
          </a:xfrm>
          <a:prstGeom prst="ellipse">
            <a:avLst/>
          </a:prstGeom>
          <a:solidFill>
            <a:srgbClr val="A7F3D0">
              <a:alpha val="32000"/>
            </a:srgbClr>
          </a:solidFill>
          <a:ln w="12700">
            <a:solidFill>
              <a:srgbClr val="A7F3D0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4709160"/>
            <a:ext cx="128016" cy="128016"/>
          </a:xfrm>
          <a:prstGeom prst="ellipse">
            <a:avLst/>
          </a:prstGeom>
          <a:solidFill>
            <a:srgbClr val="DDD6FE">
              <a:alpha val="45000"/>
            </a:srgbClr>
          </a:solidFill>
          <a:ln w="12700">
            <a:solidFill>
              <a:srgbClr val="DDD6F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347472"/>
            <a:ext cx="109728" cy="566928"/>
          </a:xfrm>
          <a:prstGeom prst="rect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035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Modelo B2B2C — el ciclo se cierra solo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886200" y="1481328"/>
            <a:ext cx="1371600" cy="1371600"/>
          </a:xfrm>
          <a:prstGeom prst="ellipse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86200" y="1481328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DATA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389888"/>
            <a:ext cx="1371600" cy="13716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499616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INSTITUCIÓN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B2B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2585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Clínica · Colegio PIE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86200" y="3182112"/>
            <a:ext cx="1371600" cy="1371600"/>
          </a:xfrm>
          <a:prstGeom prst="rect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86200" y="32918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FAMILIA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B2C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6200" y="405079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Padre + niño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0" y="1389888"/>
            <a:ext cx="137160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1499616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PROFESIONAL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0" y="22585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Psicólogo · PIE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65960" y="181051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6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recomienda 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65960" y="223113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6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← genera datos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40680" y="18105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mejores sesiones →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40680" y="223113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← más familias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87952"/>
            <a:ext cx="2697480" cy="804672"/>
          </a:xfrm>
          <a:prstGeom prst="rect">
            <a:avLst/>
          </a:prstGeom>
          <a:solidFill>
            <a:srgbClr val="FDFCFF"/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2336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Clínica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03120" y="4206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B61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$8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94360" y="45720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/paciente/mes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55848" y="4187952"/>
            <a:ext cx="2697480" cy="804672"/>
          </a:xfrm>
          <a:prstGeom prst="rect">
            <a:avLst/>
          </a:prstGeom>
          <a:solidFill>
            <a:srgbClr val="FDFC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42336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Colegio PIE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01768" y="4206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$3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3493008" y="45720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/niño/mes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54496" y="4187952"/>
            <a:ext cx="2697480" cy="804672"/>
          </a:xfrm>
          <a:prstGeom prst="rect">
            <a:avLst/>
          </a:prstGeom>
          <a:solidFill>
            <a:srgbClr val="FDFCFF"/>
          </a:solidFill>
          <a:ln w="19050">
            <a:solidFill>
              <a:srgbClr val="FDBA7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91656" y="42336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Familia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900416" y="4206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DBA74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$5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391656" y="45720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/mes (Premium)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56032"/>
            <a:ext cx="201168" cy="201168"/>
          </a:xfrm>
          <a:prstGeom prst="ellipse">
            <a:avLst/>
          </a:prstGeom>
          <a:solidFill>
            <a:srgbClr val="7B61FF">
              <a:alpha val="35000"/>
            </a:srgbClr>
          </a:solidFill>
          <a:ln w="12700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585216"/>
            <a:ext cx="109728" cy="109728"/>
          </a:xfrm>
          <a:prstGeom prst="ellipse">
            <a:avLst/>
          </a:prstGeom>
          <a:solidFill>
            <a:srgbClr val="FDBA74">
              <a:alpha val="40000"/>
            </a:srgbClr>
          </a:solidFill>
          <a:ln w="12700">
            <a:solidFill>
              <a:srgbClr val="FDBA7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68512" y="146304"/>
            <a:ext cx="91440" cy="91440"/>
          </a:xfrm>
          <a:prstGeom prst="ellipse">
            <a:avLst/>
          </a:prstGeom>
          <a:solidFill>
            <a:srgbClr val="A7F3D0">
              <a:alpha val="32000"/>
            </a:srgbClr>
          </a:solidFill>
          <a:ln w="12700">
            <a:solidFill>
              <a:srgbClr val="A7F3D0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4709160"/>
            <a:ext cx="128016" cy="128016"/>
          </a:xfrm>
          <a:prstGeom prst="ellipse">
            <a:avLst/>
          </a:prstGeom>
          <a:solidFill>
            <a:srgbClr val="DDD6FE">
              <a:alpha val="45000"/>
            </a:srgbClr>
          </a:solidFill>
          <a:ln w="12700">
            <a:solidFill>
              <a:srgbClr val="DDD6F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347472"/>
            <a:ext cx="10972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035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Un mercado en expansión acelerada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Salud mental infantil digital · Global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353312"/>
            <a:ext cx="4754880" cy="3200400"/>
          </a:xfrm>
          <a:prstGeom prst="ellipse">
            <a:avLst/>
          </a:prstGeom>
          <a:solidFill>
            <a:srgbClr val="7B61FF">
              <a:alpha val="12000"/>
            </a:srgbClr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664208"/>
            <a:ext cx="3931920" cy="2578608"/>
          </a:xfrm>
          <a:prstGeom prst="ellipse">
            <a:avLst/>
          </a:prstGeom>
          <a:solidFill>
            <a:srgbClr val="7B61FF">
              <a:alpha val="20000"/>
            </a:srgbClr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2121408"/>
            <a:ext cx="2926080" cy="1664208"/>
          </a:xfrm>
          <a:prstGeom prst="ellipse">
            <a:avLst/>
          </a:prstGeom>
          <a:solidFill>
            <a:srgbClr val="7B61FF">
              <a:alpha val="35000"/>
            </a:srgbClr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94560" y="14813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B61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$5–8B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11680" y="18105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 Global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23042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035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$230M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11680" y="26334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 LATAM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31272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$28.8M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03120" y="34198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Chile SOM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94960" y="1353312"/>
            <a:ext cx="3291840" cy="804672"/>
          </a:xfrm>
          <a:prstGeom prst="rect">
            <a:avLst/>
          </a:prstGeom>
          <a:solidFill>
            <a:srgbClr val="FDFCFF"/>
          </a:solidFill>
          <a:ln w="12700">
            <a:solidFill>
              <a:srgbClr val="EDE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94960" y="1353312"/>
            <a:ext cx="73152" cy="80467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138988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B61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1.8M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77840" y="179222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niños 4-12 años en Chile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94960" y="2286000"/>
            <a:ext cx="3291840" cy="804672"/>
          </a:xfrm>
          <a:prstGeom prst="rect">
            <a:avLst/>
          </a:prstGeom>
          <a:solidFill>
            <a:srgbClr val="FDFCFF"/>
          </a:solidFill>
          <a:ln w="12700">
            <a:solidFill>
              <a:srgbClr val="EDE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94960" y="2286000"/>
            <a:ext cx="73152" cy="804672"/>
          </a:xfrm>
          <a:prstGeom prst="rect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232257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DBA74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5.800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577840" y="27249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colegios con PIE activo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94960" y="3218688"/>
            <a:ext cx="3291840" cy="804672"/>
          </a:xfrm>
          <a:prstGeom prst="rect">
            <a:avLst/>
          </a:prstGeom>
          <a:solidFill>
            <a:srgbClr val="FDFCFF"/>
          </a:solidFill>
          <a:ln w="12700">
            <a:solidFill>
              <a:srgbClr val="EDE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94960" y="3218688"/>
            <a:ext cx="73152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325526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2.500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577840" y="36576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clínicas pediátricas privadas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94960" y="4151376"/>
            <a:ext cx="3291840" cy="804672"/>
          </a:xfrm>
          <a:prstGeom prst="rect">
            <a:avLst/>
          </a:prstGeom>
          <a:solidFill>
            <a:srgbClr val="FDFCFF"/>
          </a:solidFill>
          <a:ln w="12700">
            <a:solidFill>
              <a:srgbClr val="EDE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394960" y="4151376"/>
            <a:ext cx="73152" cy="80467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418795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B61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$1.85M ARR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577840" y="45902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 objetivo — Año 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56032"/>
            <a:ext cx="201168" cy="201168"/>
          </a:xfrm>
          <a:prstGeom prst="ellipse">
            <a:avLst/>
          </a:prstGeom>
          <a:solidFill>
            <a:srgbClr val="7B61FF">
              <a:alpha val="35000"/>
            </a:srgbClr>
          </a:solidFill>
          <a:ln w="12700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585216"/>
            <a:ext cx="109728" cy="109728"/>
          </a:xfrm>
          <a:prstGeom prst="ellipse">
            <a:avLst/>
          </a:prstGeom>
          <a:solidFill>
            <a:srgbClr val="FDBA74">
              <a:alpha val="40000"/>
            </a:srgbClr>
          </a:solidFill>
          <a:ln w="12700">
            <a:solidFill>
              <a:srgbClr val="FDBA7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68512" y="146304"/>
            <a:ext cx="91440" cy="91440"/>
          </a:xfrm>
          <a:prstGeom prst="ellipse">
            <a:avLst/>
          </a:prstGeom>
          <a:solidFill>
            <a:srgbClr val="A7F3D0">
              <a:alpha val="32000"/>
            </a:srgbClr>
          </a:solidFill>
          <a:ln w="12700">
            <a:solidFill>
              <a:srgbClr val="A7F3D0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4709160"/>
            <a:ext cx="128016" cy="128016"/>
          </a:xfrm>
          <a:prstGeom prst="ellipse">
            <a:avLst/>
          </a:prstGeom>
          <a:solidFill>
            <a:srgbClr val="DDD6FE">
              <a:alpha val="45000"/>
            </a:srgbClr>
          </a:solidFill>
          <a:ln w="12700">
            <a:solidFill>
              <a:srgbClr val="DDD6F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347472"/>
            <a:ext cx="109728" cy="5669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035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El equipo cubre los dos lados del problema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005840"/>
            <a:ext cx="4114800" cy="3520440"/>
          </a:xfrm>
          <a:prstGeom prst="rect">
            <a:avLst/>
          </a:prstGeom>
          <a:solidFill>
            <a:srgbClr val="FDFCFF"/>
          </a:solidFill>
          <a:ln w="12700">
            <a:solidFill>
              <a:srgbClr val="EDE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005840"/>
            <a:ext cx="4114800" cy="5029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804672"/>
            <a:ext cx="749808" cy="749808"/>
          </a:xfrm>
          <a:prstGeom prst="ellipse">
            <a:avLst/>
          </a:prstGeom>
          <a:solidFill>
            <a:srgbClr val="7B61FF"/>
          </a:solidFill>
          <a:ln w="25400">
            <a:solidFill>
              <a:srgbClr val="FDF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80467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E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94360" y="15727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035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Edgar Gomero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1993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6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Operaciones &amp; Canal Institucional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" y="242316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Coordinó médicos y colegios en CEAPSI (PIE, Mineduc)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01752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años en gestión operativa clínica-escolar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61188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6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Abre el canal B2B — sabe quién firma y cuánto demora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1005840"/>
            <a:ext cx="4114800" cy="3520440"/>
          </a:xfrm>
          <a:prstGeom prst="rect">
            <a:avLst/>
          </a:prstGeom>
          <a:solidFill>
            <a:srgbClr val="FDFCFF"/>
          </a:solidFill>
          <a:ln w="12700">
            <a:solidFill>
              <a:srgbClr val="EDE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005840"/>
            <a:ext cx="4114800" cy="502920"/>
          </a:xfrm>
          <a:prstGeom prst="rect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804672"/>
            <a:ext cx="749808" cy="749808"/>
          </a:xfrm>
          <a:prstGeom prst="ellipse">
            <a:avLst/>
          </a:prstGeom>
          <a:solidFill>
            <a:srgbClr val="FDBA74"/>
          </a:solidFill>
          <a:ln w="25400">
            <a:solidFill>
              <a:srgbClr val="FDF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80467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J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983480" y="15727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035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Jose Muñoz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83480" y="19933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DBA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Producto &amp; Datos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983480" y="242316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Engineer — Databricks, Azure, Spark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301752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Experiencia enterprise Chile, Colombia, EE.UU.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83480" y="361188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BA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</a:t>
            </a:r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Construye el MVP y la arquitectura de datos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solidFill>
            <a:srgbClr val="EDE9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70001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A1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"Tenemos el lado clínico-institucional y el técnico. Los dos nodos del B2B2C."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56032"/>
            <a:ext cx="201168" cy="201168"/>
          </a:xfrm>
          <a:prstGeom prst="ellipse">
            <a:avLst/>
          </a:prstGeom>
          <a:solidFill>
            <a:srgbClr val="7B61FF">
              <a:alpha val="35000"/>
            </a:srgbClr>
          </a:solidFill>
          <a:ln w="12700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585216"/>
            <a:ext cx="109728" cy="109728"/>
          </a:xfrm>
          <a:prstGeom prst="ellipse">
            <a:avLst/>
          </a:prstGeom>
          <a:solidFill>
            <a:srgbClr val="FDBA74">
              <a:alpha val="40000"/>
            </a:srgbClr>
          </a:solidFill>
          <a:ln w="12700">
            <a:solidFill>
              <a:srgbClr val="FDBA7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68512" y="146304"/>
            <a:ext cx="91440" cy="91440"/>
          </a:xfrm>
          <a:prstGeom prst="ellipse">
            <a:avLst/>
          </a:prstGeom>
          <a:solidFill>
            <a:srgbClr val="A7F3D0">
              <a:alpha val="32000"/>
            </a:srgbClr>
          </a:solidFill>
          <a:ln w="12700">
            <a:solidFill>
              <a:srgbClr val="A7F3D0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4709160"/>
            <a:ext cx="128016" cy="128016"/>
          </a:xfrm>
          <a:prstGeom prst="ellipse">
            <a:avLst/>
          </a:prstGeom>
          <a:solidFill>
            <a:srgbClr val="DDD6FE">
              <a:alpha val="45000"/>
            </a:srgbClr>
          </a:solidFill>
          <a:ln w="12700">
            <a:solidFill>
              <a:srgbClr val="DDD6F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347472"/>
            <a:ext cx="109728" cy="566928"/>
          </a:xfrm>
          <a:prstGeom prst="rect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035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Nadie tiene esta combinación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96012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Análisis competitivo · salud mental infantil digital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8321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25880"/>
                <a:gridCol w="1417320"/>
                <a:gridCol w="1417320"/>
                <a:gridCol w="1325880"/>
                <a:gridCol w="11887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Mascota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Datos continuos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Dashboard padre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Canal clínico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Español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0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Finch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B0B7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B0B7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B0B7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B0B7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B0B7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0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Breathe Think Do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D948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B0B7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B0B7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B0B7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B0B7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0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Mightier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B0B7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D948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B0B7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D948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B0B7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0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Luca (Chile)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B0B7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B0B7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B0B7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B0B7C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D948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Hachiko Kids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7F3D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7F3D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7F3D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7F3D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A7F3D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61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11480" y="4224528"/>
            <a:ext cx="8321040" cy="457200"/>
          </a:xfrm>
          <a:prstGeom prst="rect">
            <a:avLst/>
          </a:prstGeom>
          <a:solidFill>
            <a:srgbClr val="EDE9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24281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035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Esa combinación es nuestra ventaja. Y está construida.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56032"/>
            <a:ext cx="201168" cy="201168"/>
          </a:xfrm>
          <a:prstGeom prst="ellipse">
            <a:avLst/>
          </a:prstGeom>
          <a:solidFill>
            <a:srgbClr val="7B61FF">
              <a:alpha val="35000"/>
            </a:srgbClr>
          </a:solidFill>
          <a:ln w="12700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585216"/>
            <a:ext cx="109728" cy="109728"/>
          </a:xfrm>
          <a:prstGeom prst="ellipse">
            <a:avLst/>
          </a:prstGeom>
          <a:solidFill>
            <a:srgbClr val="FDBA74">
              <a:alpha val="40000"/>
            </a:srgbClr>
          </a:solidFill>
          <a:ln w="12700">
            <a:solidFill>
              <a:srgbClr val="FDBA7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68512" y="146304"/>
            <a:ext cx="91440" cy="91440"/>
          </a:xfrm>
          <a:prstGeom prst="ellipse">
            <a:avLst/>
          </a:prstGeom>
          <a:solidFill>
            <a:srgbClr val="A7F3D0">
              <a:alpha val="32000"/>
            </a:srgbClr>
          </a:solidFill>
          <a:ln w="12700">
            <a:solidFill>
              <a:srgbClr val="A7F3D0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4709160"/>
            <a:ext cx="128016" cy="128016"/>
          </a:xfrm>
          <a:prstGeom prst="ellipse">
            <a:avLst/>
          </a:prstGeom>
          <a:solidFill>
            <a:srgbClr val="DDD6FE">
              <a:alpha val="45000"/>
            </a:srgbClr>
          </a:solidFill>
          <a:ln w="12700">
            <a:solidFill>
              <a:srgbClr val="DDD6F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347472"/>
            <a:ext cx="10972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035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Tracción real en el primer mes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024128"/>
            <a:ext cx="8321040" cy="1143000"/>
          </a:xfrm>
          <a:prstGeom prst="rect">
            <a:avLst/>
          </a:prstGeom>
          <a:solidFill>
            <a:srgbClr val="FDFCFF"/>
          </a:solidFill>
          <a:ln w="12700">
            <a:solidFill>
              <a:srgbClr val="EDE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024128"/>
            <a:ext cx="91440" cy="114300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0972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B6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Desplegado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140817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035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APK Android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154680" y="1207008"/>
            <a:ext cx="0" cy="777240"/>
          </a:xfrm>
          <a:prstGeom prst="line">
            <a:avLst/>
          </a:prstGeom>
          <a:noFill/>
          <a:ln w="12700">
            <a:solidFill>
              <a:srgbClr val="DDD6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161288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 completo: check-in diario, reacción de mascota, resumen semanal del padre.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11480" y="2322576"/>
            <a:ext cx="8321040" cy="1143000"/>
          </a:xfrm>
          <a:prstGeom prst="rect">
            <a:avLst/>
          </a:prstGeom>
          <a:solidFill>
            <a:srgbClr val="FDFCFF"/>
          </a:solidFill>
          <a:ln w="12700">
            <a:solidFill>
              <a:srgbClr val="EDE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322576"/>
            <a:ext cx="9144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3957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 Activo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270662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035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20–30 familias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154680" y="2505456"/>
            <a:ext cx="0" cy="777240"/>
          </a:xfrm>
          <a:prstGeom prst="line">
            <a:avLst/>
          </a:prstGeom>
          <a:noFill/>
          <a:ln w="12700">
            <a:solidFill>
              <a:srgbClr val="DDD6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2459736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Familias usando la app. Validando H1: ¿los niños vuelven &gt;4x/semana?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11480" y="3621024"/>
            <a:ext cx="8321040" cy="1143000"/>
          </a:xfrm>
          <a:prstGeom prst="rect">
            <a:avLst/>
          </a:prstGeom>
          <a:solidFill>
            <a:srgbClr val="FDFCFF"/>
          </a:solidFill>
          <a:ln w="12700">
            <a:solidFill>
              <a:srgbClr val="EDE9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621024"/>
            <a:ext cx="91440" cy="1143000"/>
          </a:xfrm>
          <a:prstGeom prst="rect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69417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DBA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Institucional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40050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035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2 clínicas + 1 PIE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3154680" y="3803904"/>
            <a:ext cx="0" cy="777240"/>
          </a:xfrm>
          <a:prstGeom prst="line">
            <a:avLst/>
          </a:prstGeom>
          <a:noFill/>
          <a:ln w="12700">
            <a:solidFill>
              <a:srgbClr val="DDD6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758184"/>
            <a:ext cx="5257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Conversaciones abiertas para primer piloto B2B con clínicas y colegio PIE.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11480" y="47365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 al 27 de marzo de 2026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56032"/>
            <a:ext cx="219456" cy="219456"/>
          </a:xfrm>
          <a:prstGeom prst="ellipse">
            <a:avLst/>
          </a:prstGeom>
          <a:solidFill>
            <a:srgbClr val="FDBA74">
              <a:alpha val="65000"/>
            </a:srgbClr>
          </a:solidFill>
          <a:ln w="12700">
            <a:solidFill>
              <a:srgbClr val="FDBA74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96528" y="603504"/>
            <a:ext cx="128016" cy="128016"/>
          </a:xfrm>
          <a:prstGeom prst="ellipse">
            <a:avLst/>
          </a:prstGeom>
          <a:solidFill>
            <a:srgbClr val="A7F3D0">
              <a:alpha val="60000"/>
            </a:srgbClr>
          </a:solidFill>
          <a:ln w="12700">
            <a:solidFill>
              <a:srgbClr val="A7F3D0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164592"/>
            <a:ext cx="109728" cy="109728"/>
          </a:xfrm>
          <a:prstGeom prst="ellipse">
            <a:avLst/>
          </a:prstGeom>
          <a:solidFill>
            <a:srgbClr val="A7F3D0">
              <a:alpha val="50000"/>
            </a:srgbClr>
          </a:solidFill>
          <a:ln w="12700">
            <a:solidFill>
              <a:srgbClr val="A7F3D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4709160"/>
            <a:ext cx="146304" cy="146304"/>
          </a:xfrm>
          <a:prstGeom prst="ellipse">
            <a:avLst/>
          </a:prstGeom>
          <a:solidFill>
            <a:srgbClr val="7B61FF">
              <a:alpha val="55000"/>
            </a:srgbClr>
          </a:solidFill>
          <a:ln w="12700">
            <a:solidFill>
              <a:srgbClr val="7B61FF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2D1B5E">
              <a:alpha val="75000"/>
            </a:srgbClr>
          </a:solidFill>
          <a:ln w="12700">
            <a:solidFill>
              <a:srgbClr val="2D1B5E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El timing es específico — y nos favorece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4114800" cy="1783080"/>
          </a:xfrm>
          <a:prstGeom prst="rect">
            <a:avLst/>
          </a:prstGeom>
          <a:solidFill>
            <a:srgbClr val="FFFFFF">
              <a:alpha val="8000"/>
            </a:srgbClr>
          </a:solidFill>
          <a:ln w="15240">
            <a:solidFill>
              <a:srgbClr val="7B6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17957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7B61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88720" y="117957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Crisis post-pandemia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76072" y="1709928"/>
            <a:ext cx="3749040" cy="0"/>
          </a:xfrm>
          <a:prstGeom prst="line">
            <a:avLst/>
          </a:prstGeom>
          <a:noFill/>
          <a:ln w="9525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80136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Urgencias psiquiátricas infantiles +72% (2019-2023). La demanda es urgente y creciente.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051560"/>
            <a:ext cx="4114800" cy="1783080"/>
          </a:xfrm>
          <a:prstGeom prst="rect">
            <a:avLst/>
          </a:prstGeom>
          <a:solidFill>
            <a:srgbClr val="FFFFFF">
              <a:alpha val="8000"/>
            </a:srgbClr>
          </a:solidFill>
          <a:ln w="15240">
            <a:solidFill>
              <a:srgbClr val="FDBA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10912" y="117957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DBA74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623560" y="117957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Marco legal (Ley 21.430 + TEA)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10912" y="1709928"/>
            <a:ext cx="3749040" cy="0"/>
          </a:xfrm>
          <a:prstGeom prst="line">
            <a:avLst/>
          </a:prstGeom>
          <a:noFill/>
          <a:ln w="9525">
            <a:solidFill>
              <a:srgbClr val="FDBA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180136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Obligaciones institucionales de monitoreo continuo. Demanda regulatoria real.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017520"/>
            <a:ext cx="4114800" cy="1783080"/>
          </a:xfrm>
          <a:prstGeom prst="rect">
            <a:avLst/>
          </a:prstGeom>
          <a:solidFill>
            <a:srgbClr val="FFFFFF">
              <a:alpha val="8000"/>
            </a:srgbClr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314553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D9488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188720" y="314553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PIE — financiamiento activo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76072" y="3675888"/>
            <a:ext cx="3749040" cy="0"/>
          </a:xfrm>
          <a:prstGeom prst="line">
            <a:avLst/>
          </a:prstGeom>
          <a:noFill/>
          <a:ln w="9525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" y="376732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400.000 niños financiados por Mineduc. Partidas abiertas para herramientas de apoyo.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3017520"/>
            <a:ext cx="4114800" cy="1783080"/>
          </a:xfrm>
          <a:prstGeom prst="rect">
            <a:avLst/>
          </a:prstGeom>
          <a:solidFill>
            <a:srgbClr val="FFFFFF">
              <a:alpha val="8000"/>
            </a:srgbClr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314553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7F3D0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623560" y="314553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Instituciones listas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010912" y="3675888"/>
            <a:ext cx="3749040" cy="0"/>
          </a:xfrm>
          <a:prstGeom prst="line">
            <a:avLst/>
          </a:prstGeom>
          <a:noFill/>
          <a:ln w="9525">
            <a:solidFill>
              <a:srgbClr val="A7F3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76732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9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Clínicas y colegios ya buscan herramientas digitales. No hay que convencer — hay que mostrar.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56032"/>
            <a:ext cx="201168" cy="201168"/>
          </a:xfrm>
          <a:prstGeom prst="ellipse">
            <a:avLst/>
          </a:prstGeom>
          <a:solidFill>
            <a:srgbClr val="7B61FF">
              <a:alpha val="35000"/>
            </a:srgbClr>
          </a:solidFill>
          <a:ln w="12700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585216"/>
            <a:ext cx="109728" cy="109728"/>
          </a:xfrm>
          <a:prstGeom prst="ellipse">
            <a:avLst/>
          </a:prstGeom>
          <a:solidFill>
            <a:srgbClr val="FDBA74">
              <a:alpha val="40000"/>
            </a:srgbClr>
          </a:solidFill>
          <a:ln w="12700">
            <a:solidFill>
              <a:srgbClr val="FDBA74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68512" y="146304"/>
            <a:ext cx="91440" cy="91440"/>
          </a:xfrm>
          <a:prstGeom prst="ellipse">
            <a:avLst/>
          </a:prstGeom>
          <a:solidFill>
            <a:srgbClr val="A7F3D0">
              <a:alpha val="32000"/>
            </a:srgbClr>
          </a:solidFill>
          <a:ln w="12700">
            <a:solidFill>
              <a:srgbClr val="A7F3D0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4709160"/>
            <a:ext cx="128016" cy="128016"/>
          </a:xfrm>
          <a:prstGeom prst="ellipse">
            <a:avLst/>
          </a:prstGeom>
          <a:solidFill>
            <a:srgbClr val="DDD6FE">
              <a:alpha val="45000"/>
            </a:srgbClr>
          </a:solidFill>
          <a:ln w="12700">
            <a:solidFill>
              <a:srgbClr val="DDD6FE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347472"/>
            <a:ext cx="109728" cy="566928"/>
          </a:xfrm>
          <a:prstGeom prst="rect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7472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035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Roadmap &amp; Financiamiento activo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499616"/>
            <a:ext cx="8229600" cy="54864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344168"/>
            <a:ext cx="347472" cy="347472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961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61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Hoy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70432" y="1207008"/>
            <a:ext cx="0" cy="137160"/>
          </a:xfrm>
          <a:prstGeom prst="line">
            <a:avLst/>
          </a:prstGeom>
          <a:noFill/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7830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 20-30 familias · datos en 30 días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82112" y="134416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16352" y="8961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Mes 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46704" y="1207008"/>
            <a:ext cx="0" cy="13716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9192" y="17830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Primeras clínicas pagando (B2B)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58384" y="1344168"/>
            <a:ext cx="347472" cy="347472"/>
          </a:xfrm>
          <a:prstGeom prst="ellipse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8961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DBA74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Mes 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22976" y="1207008"/>
            <a:ext cx="0" cy="137160"/>
          </a:xfrm>
          <a:prstGeom prst="line">
            <a:avLst/>
          </a:prstGeom>
          <a:noFill/>
          <a:ln w="12700">
            <a:solidFill>
              <a:srgbClr val="FDBA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5464" y="17830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$5–10K MRR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34656" y="1344168"/>
            <a:ext cx="347472" cy="347472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68896" y="8961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61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Año 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99248" y="1207008"/>
            <a:ext cx="0" cy="137160"/>
          </a:xfrm>
          <a:prstGeom prst="line">
            <a:avLst/>
          </a:prstGeom>
          <a:noFill/>
          <a:ln w="12700">
            <a:solidFill>
              <a:srgbClr val="7B6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31736" y="1783080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Expansión México + App Store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27249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CONVOCATORIAS ACTIVAS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90672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463040"/>
                <a:gridCol w="1463040"/>
                <a:gridCol w="822960"/>
                <a:gridCol w="14630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Convocatoria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Cierre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Inversión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Equity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Prioridad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Start-Up Chile — Ignite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 mayo 2026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035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$27K + $22K</a:t>
                      </a:r>
                      <a:endParaRPr lang="en-US" sz="11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ALTA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 Combinator S26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 mayo 2026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035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$500K</a:t>
                      </a:r>
                      <a:endParaRPr lang="en-US" sz="11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ALTA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Wayra Colombia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 mar 2026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035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USD $100K</a:t>
                      </a:r>
                      <a:endParaRPr lang="en-US" sz="11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TBD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ALTA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03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Techstars Healthcare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jun 2026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035"/>
                          </a:solidFill>
                          <a:latin typeface="Fredoka One" pitchFamily="34" charset="0"/>
                          <a:ea typeface="Fredoka One" pitchFamily="34" charset="-122"/>
                          <a:cs typeface="Fredoka One" pitchFamily="34" charset="-120"/>
                        </a:rPr>
                        <a:t>$220K</a:t>
                      </a:r>
                      <a:endParaRPr lang="en-US" sz="1100" dirty="0">
                        <a:latin typeface="Fredoka One" charset="0"/>
                        <a:ea typeface="Fredoka One" charset="0"/>
                        <a:cs typeface="Fredoka One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5%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DBA7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MEDIA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256032"/>
            <a:ext cx="219456" cy="219456"/>
          </a:xfrm>
          <a:prstGeom prst="ellipse">
            <a:avLst/>
          </a:prstGeom>
          <a:solidFill>
            <a:srgbClr val="FDBA74">
              <a:alpha val="65000"/>
            </a:srgbClr>
          </a:solidFill>
          <a:ln w="12700">
            <a:solidFill>
              <a:srgbClr val="FDBA74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96528" y="603504"/>
            <a:ext cx="128016" cy="128016"/>
          </a:xfrm>
          <a:prstGeom prst="ellipse">
            <a:avLst/>
          </a:prstGeom>
          <a:solidFill>
            <a:srgbClr val="A7F3D0">
              <a:alpha val="60000"/>
            </a:srgbClr>
          </a:solidFill>
          <a:ln w="12700">
            <a:solidFill>
              <a:srgbClr val="A7F3D0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164592"/>
            <a:ext cx="109728" cy="109728"/>
          </a:xfrm>
          <a:prstGeom prst="ellipse">
            <a:avLst/>
          </a:prstGeom>
          <a:solidFill>
            <a:srgbClr val="A7F3D0">
              <a:alpha val="50000"/>
            </a:srgbClr>
          </a:solidFill>
          <a:ln w="12700">
            <a:solidFill>
              <a:srgbClr val="A7F3D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4709160"/>
            <a:ext cx="146304" cy="146304"/>
          </a:xfrm>
          <a:prstGeom prst="ellipse">
            <a:avLst/>
          </a:prstGeom>
          <a:solidFill>
            <a:srgbClr val="7B61FF">
              <a:alpha val="55000"/>
            </a:srgbClr>
          </a:solidFill>
          <a:ln w="12700">
            <a:solidFill>
              <a:srgbClr val="7B61FF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2D1B5E">
              <a:alpha val="75000"/>
            </a:srgbClr>
          </a:solidFill>
          <a:ln w="12700">
            <a:solidFill>
              <a:srgbClr val="2D1B5E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2560320"/>
            <a:ext cx="3200400" cy="3200400"/>
          </a:xfrm>
          <a:prstGeom prst="ellipse">
            <a:avLst/>
          </a:prstGeom>
          <a:solidFill>
            <a:srgbClr val="2D1B5E">
              <a:alpha val="75000"/>
            </a:srgbClr>
          </a:solidFill>
          <a:ln w="12700">
            <a:solidFill>
              <a:srgbClr val="2D1B5E">
                <a:alpha val="75000"/>
              </a:srgbClr>
            </a:solidFill>
            <a:prstDash val="solid"/>
          </a:ln>
        </p:spPr>
      </p:sp>
      <p:pic>
        <p:nvPicPr>
          <p:cNvPr id="8" name="Image 0" descr="/sessions/happy-dazzling-ritchie/pitch-deck/logo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56032"/>
            <a:ext cx="1965960" cy="1965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384048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"Los niños ya juegan</a:t>
            </a:r>
            <a:endParaRPr lang="en-US" sz="3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con mascotas virtuales.</a:t>
            </a:r>
            <a:endParaRPr lang="en-US" sz="3500" dirty="0"/>
          </a:p>
        </p:txBody>
      </p:sp>
      <p:sp>
        <p:nvSpPr>
          <p:cNvPr id="10" name="Text 7"/>
          <p:cNvSpPr/>
          <p:nvPr/>
        </p:nvSpPr>
        <p:spPr>
          <a:xfrm>
            <a:off x="594360" y="2267712"/>
            <a:ext cx="6217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500" dirty="0">
                <a:solidFill>
                  <a:srgbClr val="7B61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Nosotros hacemos</a:t>
            </a:r>
            <a:endParaRPr lang="en-US" sz="3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500" dirty="0">
                <a:solidFill>
                  <a:srgbClr val="7B61FF"/>
                </a:solidFill>
                <a:latin typeface="Fredoka One" pitchFamily="34" charset="0"/>
                <a:ea typeface="Fredoka One" pitchFamily="34" charset="-122"/>
                <a:cs typeface="Fredoka One" pitchFamily="34" charset="-120"/>
              </a:rPr>
              <a:t>que eso importe."</a:t>
            </a:r>
            <a:endParaRPr lang="en-US" sz="3500" dirty="0"/>
          </a:p>
        </p:txBody>
      </p:sp>
      <p:sp>
        <p:nvSpPr>
          <p:cNvPr id="11" name="Shape 8"/>
          <p:cNvSpPr/>
          <p:nvPr/>
        </p:nvSpPr>
        <p:spPr>
          <a:xfrm>
            <a:off x="594360" y="3611880"/>
            <a:ext cx="2743200" cy="54864"/>
          </a:xfrm>
          <a:prstGeom prst="rect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37673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9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¿Quieren ver los datos del piloto cuando los tengamos?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94360" y="4407408"/>
            <a:ext cx="3474720" cy="530352"/>
          </a:xfrm>
          <a:prstGeom prst="roundRect">
            <a:avLst>
              <a:gd name="adj" fmla="val 25862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40740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contacto@hachikokids.com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251960" y="44622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hachikokids.com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61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"Traduciendo el juego en bienestar"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Hachiko Kids — Pitch Inversión 2026</dc:title>
  <dc:subject>PptxGenJS Presentation</dc:subject>
  <dc:creator>Hachiko Kids</dc:creator>
  <cp:lastModifiedBy>Hachiko Kids</cp:lastModifiedBy>
  <cp:revision>1</cp:revision>
  <dcterms:created xsi:type="dcterms:W3CDTF">2026-03-28T02:35:52Z</dcterms:created>
  <dcterms:modified xsi:type="dcterms:W3CDTF">2026-03-28T02:35:52Z</dcterms:modified>
</cp:coreProperties>
</file>