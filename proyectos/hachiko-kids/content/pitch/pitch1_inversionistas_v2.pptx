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B2D8E"/>
                </a:solidFill>
                <a:latin typeface="Calibri"/>
              </a:rPr>
              <a:t>Hachiko Kids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2600" b="0" i="0">
                <a:solidFill>
                  <a:srgbClr val="F4A261"/>
                </a:solidFill>
                <a:latin typeface="Calibri"/>
              </a:rPr>
              <a:t>Entiende por qué tu hijo se comporta así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App de bienestar emocional infantil — Modelo B2B2C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El momento que nadie 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8600"/>
            <a:ext cx="11094415" cy="563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2000" b="0" i="0">
                <a:solidFill>
                  <a:srgbClr val="1A1A2E"/>
                </a:solidFill>
                <a:latin typeface="Calibri"/>
              </a:rPr>
              <a:t>Cuando un niño tiene una rabieta, se niega a ir al colegio, o simplemente se apaga…
el padre no sabe si es algo que pasará solo, o algo que necesita atención.
Y el profesional que podría ayudarlo tiene lista de espera de 4 meses.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escala del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14360"/>
            <a:ext cx="3576218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78952"/>
            <a:ext cx="33018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A261"/>
                </a:solidFill>
                <a:latin typeface="Calibri"/>
              </a:rPr>
              <a:t>405.000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1600"/>
            <a:ext cx="339333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niños en Chile necesitan
atención en salud mental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7738" y="1314360"/>
            <a:ext cx="3576218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4898" y="1478952"/>
            <a:ext cx="33018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A261"/>
                </a:solidFill>
                <a:latin typeface="Calibri"/>
              </a:rPr>
              <a:t>1 de cada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2091600"/>
            <a:ext cx="339333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recibe ayuda efectiva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6836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6836" y="1314360"/>
            <a:ext cx="3576218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3996" y="1478952"/>
            <a:ext cx="33018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A261"/>
                </a:solidFill>
                <a:latin typeface="Calibri"/>
              </a:rPr>
              <a:t>4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2091600"/>
            <a:ext cx="339333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lista de espera promedio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832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  <a:latin typeface="Calibri"/>
              </a:rPr>
              <a:t>Fuente: MINSAL 2023 · OPS LATAM · datos del sistema de salud pública chilena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¿Quién tiene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8600"/>
            <a:ext cx="11094415" cy="563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El clínico ve al niño  →  1 hora / mes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El padre ve al niño  →  ~300 horas / mes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•  El sistema captura  →  datos de esa 1 hora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/>
            <a:r>
              <a:rPr sz="2000" b="1" i="1">
                <a:solidFill>
                  <a:srgbClr val="F4A261"/>
                </a:solidFill>
                <a:latin typeface="Calibri"/>
              </a:rPr>
              <a:t>Nadie está capturando lo que pasa en el día a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¿Y si el niño mismo nos diera esa información — sin saberlo?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8600"/>
            <a:ext cx="11094415" cy="563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800" b="0" i="0">
                <a:solidFill>
                  <a:srgbClr val="1A1A2E"/>
                </a:solidFill>
                <a:latin typeface="Calibri"/>
              </a:rPr>
              <a:t>Una app donde el niño cuida a su mascota virtual.
Mientras juega → nos dice cómo se siente, cómo reacciona socialmente, si regula sus emociones.
El padre recibe un resumen semanal con patrones y tips.
El clínico recibe datos continuos entre sesiones.
El niño nunca siente que lo están evaluando. Está jugando con su mascota.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Hachiko Kids — ya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8600"/>
            <a:ext cx="6656649" cy="5635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>El niño abre la app una vez al día.
En 60-90 segundos:
    →  Escenario conductual (situación de su mascota)
    →  Una elección
    →  Emoji de cómo se siente
    →  La mascota reacciona positivamente
El lunes, el padre recibe patrones de la semana con tips concretos.
El clínico recibe esos datos antes de la consulta.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27177" y="948600"/>
            <a:ext cx="4215877" cy="29260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0057" y="1177200"/>
            <a:ext cx="385011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⏱  60-90 seg/día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📱  Android (APK)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🐱  Luna — mascota única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5 dimensiones conductuales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Modelo B2B2C — el flywheel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647" y="1040040"/>
            <a:ext cx="2011680" cy="9601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8087" y="11772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Institución
recomienda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8327" y="1296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2D8E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247" y="1040040"/>
            <a:ext cx="2011680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2687" y="11772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Familia usa
la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1296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2D8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040040"/>
            <a:ext cx="2011680" cy="9601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1772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Datos fluyen
al profesional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527" y="1296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B2D8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10447" y="1040040"/>
            <a:ext cx="2011680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1887" y="11772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Mejor sesión →
recomienda más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2167" y="204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5B2D8E"/>
                </a:solidFill>
                <a:latin typeface="Calibri"/>
              </a:rPr>
              <a:t>↺ ciclo virtuoso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0240"/>
            <a:ext cx="3576218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13392"/>
            <a:ext cx="33933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Familias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9152"/>
            <a:ext cx="33933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$5 / 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7738" y="2640240"/>
            <a:ext cx="3576218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9178" y="2713392"/>
            <a:ext cx="33933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Clínicas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178" y="3079152"/>
            <a:ext cx="33933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$8 / paciente/mes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6836" y="2640240"/>
            <a:ext cx="3576218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8276" y="2713392"/>
            <a:ext cx="33933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Colegios PIE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8276" y="3079152"/>
            <a:ext cx="339333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$3 / niño/mes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Mercado — de Chile a LATAM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85760"/>
            <a:ext cx="1645920" cy="74980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5035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TAM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9424" y="1085760"/>
            <a:ext cx="1645920" cy="74980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0864" y="121377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  <a:latin typeface="Calibri"/>
              </a:rPr>
              <a:t>$5-8B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0208" y="1085760"/>
            <a:ext cx="7619695" cy="7498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7368" y="1250352"/>
            <a:ext cx="73910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Salud mental infantil digital  (→$8.9B en 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8720"/>
            <a:ext cx="1645920" cy="749808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7331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2D8E"/>
                </a:solidFill>
                <a:latin typeface="Calibri"/>
              </a:rPr>
              <a:t>SAM Chile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9424" y="1908720"/>
            <a:ext cx="1645920" cy="749808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203673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B2D8E"/>
                </a:solidFill>
                <a:latin typeface="Calibri"/>
              </a:rPr>
              <a:t>$28.8M/año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0208" y="1908720"/>
            <a:ext cx="7619695" cy="7498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2073312"/>
            <a:ext cx="73910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1.8M niños, 5.800 colegios PIE, 2.500 clínicas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31680"/>
            <a:ext cx="1645920" cy="7498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896272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2D8E"/>
                </a:solidFill>
                <a:latin typeface="Calibri"/>
              </a:rPr>
              <a:t>SAM LATAM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9424" y="2731680"/>
            <a:ext cx="1645920" cy="749808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40864" y="2859696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B2D8E"/>
                </a:solidFill>
                <a:latin typeface="Calibri"/>
              </a:rPr>
              <a:t>~$230M/año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0208" y="2731680"/>
            <a:ext cx="7619695" cy="749808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2896272"/>
            <a:ext cx="739109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Chile + México + Colombia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37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SOM Año 3:  $1.85M ARR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Equipo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1480"/>
            <a:ext cx="5410047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7720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EDGAR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80120"/>
            <a:ext cx="54100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D8E"/>
                </a:solidFill>
                <a:latin typeface="Calibri"/>
              </a:rPr>
              <a:t>Canal Institucional &amp; Operaciones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37320"/>
            <a:ext cx="5410047" cy="24688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28760"/>
            <a:ext cx="50900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• Coordinó médicos y colegios en PIE (CEAPSI)
• 7 años en gestión operativa
• Conoce el flujo clínico-escolar desde adentro
• Abre el canal B2B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131480"/>
            <a:ext cx="5410047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17720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JOSE MUÑOZ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680120"/>
            <a:ext cx="54100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  <a:latin typeface="Calibri"/>
              </a:rPr>
              <a:t>Producto &amp;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137320"/>
            <a:ext cx="5410047" cy="24688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228760"/>
            <a:ext cx="50900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• Data Engineer (Databricks, Azure, Spark)
• Proyectos enterprise en LATAM y EE.UU.
• Construye el producto y arquitectura de datos
• Cierra el ciclo técnico del B2B2C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Nadie tiene esta combinación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31480"/>
            <a:ext cx="237744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229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Competidor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2656" y="1131480"/>
            <a:ext cx="146304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4096" y="12229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Mascota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131480"/>
            <a:ext cx="201168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2229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Datos continuos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131480"/>
            <a:ext cx="201168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2229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Dashboard padre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58784" y="1131480"/>
            <a:ext cx="1828800" cy="5486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12229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Canal clínico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16696"/>
            <a:ext cx="237744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0813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Finch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62656" y="1716696"/>
            <a:ext cx="146304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1808136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1716696"/>
            <a:ext cx="201168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808136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1716696"/>
            <a:ext cx="201168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808136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58784" y="1716696"/>
            <a:ext cx="182880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1808136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301912"/>
            <a:ext cx="2377440" cy="548640"/>
          </a:xfrm>
          <a:prstGeom prst="rect">
            <a:avLst/>
          </a:prstGeom>
          <a:solidFill>
            <a:srgbClr val="E8E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39335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Breathe Think 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2656" y="2301912"/>
            <a:ext cx="1463040" cy="548640"/>
          </a:xfrm>
          <a:prstGeom prst="rect">
            <a:avLst/>
          </a:prstGeom>
          <a:solidFill>
            <a:srgbClr val="E8E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23933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2301912"/>
            <a:ext cx="2011680" cy="548640"/>
          </a:xfrm>
          <a:prstGeom prst="rect">
            <a:avLst/>
          </a:prstGeom>
          <a:solidFill>
            <a:srgbClr val="E8E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239335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8" y="2301912"/>
            <a:ext cx="2011680" cy="548640"/>
          </a:xfrm>
          <a:prstGeom prst="rect">
            <a:avLst/>
          </a:prstGeom>
          <a:solidFill>
            <a:srgbClr val="E8E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2393352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58784" y="2301912"/>
            <a:ext cx="1828800" cy="548640"/>
          </a:xfrm>
          <a:prstGeom prst="rect">
            <a:avLst/>
          </a:prstGeom>
          <a:solidFill>
            <a:srgbClr val="E8E8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239335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887128"/>
            <a:ext cx="237744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9785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Mightier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2656" y="2887128"/>
            <a:ext cx="146304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297856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62272" y="2887128"/>
            <a:ext cx="201168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297856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2887128"/>
            <a:ext cx="201168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97856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58784" y="2887128"/>
            <a:ext cx="1828800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0224" y="297856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472344"/>
            <a:ext cx="2377440" cy="548640"/>
          </a:xfrm>
          <a:prstGeom prst="rect">
            <a:avLst/>
          </a:prstGeom>
          <a:solidFill>
            <a:srgbClr val="F4A26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56378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Hachiko Kids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62656" y="3472344"/>
            <a:ext cx="1463040" cy="548640"/>
          </a:xfrm>
          <a:prstGeom prst="rect">
            <a:avLst/>
          </a:prstGeom>
          <a:solidFill>
            <a:srgbClr val="F4A26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6" y="3563784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3472344"/>
            <a:ext cx="2011680" cy="548640"/>
          </a:xfrm>
          <a:prstGeom prst="rect">
            <a:avLst/>
          </a:prstGeom>
          <a:solidFill>
            <a:srgbClr val="F4A26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563784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0528" y="3472344"/>
            <a:ext cx="2011680" cy="548640"/>
          </a:xfrm>
          <a:prstGeom prst="rect">
            <a:avLst/>
          </a:prstGeom>
          <a:solidFill>
            <a:srgbClr val="F4A26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1968" y="3563784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58784" y="3472344"/>
            <a:ext cx="1828800" cy="548640"/>
          </a:xfrm>
          <a:prstGeom prst="rect">
            <a:avLst/>
          </a:prstGeom>
          <a:solidFill>
            <a:srgbClr val="F4A26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0224" y="356378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149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  <a:latin typeface="Calibri"/>
              </a:rPr>
              <a:t>Nadie combina estas 4 capacidades en español.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Tracción — Mes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14360"/>
            <a:ext cx="3576218" cy="914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97240"/>
            <a:ext cx="33018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B2D8E"/>
                </a:solidFill>
                <a:latin typeface="Calibri"/>
              </a:rPr>
              <a:t>MVP desplegado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74480"/>
            <a:ext cx="3393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APK Android disponible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7738" y="1314360"/>
            <a:ext cx="3576218" cy="91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4898" y="1497240"/>
            <a:ext cx="33018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20-30 familias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178" y="2274480"/>
            <a:ext cx="3393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piloto activo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6836" y="1314360"/>
            <a:ext cx="3576218" cy="21945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6836" y="1314360"/>
            <a:ext cx="3576218" cy="914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3996" y="1497240"/>
            <a:ext cx="33018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B2D8E"/>
                </a:solidFill>
                <a:latin typeface="Calibri"/>
              </a:rPr>
              <a:t>2 clínicas + 1 PIE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2274480"/>
            <a:ext cx="33933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en conversaciones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83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  <a:latin typeface="Calibri"/>
              </a:rPr>
              <a:t>En 30 días: datos reales de retención D7, D14, D30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¿Por qué ahora?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2920"/>
            <a:ext cx="5029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2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131480"/>
            <a:ext cx="10408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Crisis post-pandemia — urgencias psiquiátricas infantiles +72% (2019-2023)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10472"/>
            <a:ext cx="5029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10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19032"/>
            <a:ext cx="10408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Marco legal — Ley 21.430 + Ley TEA crean demanda institucional de monitoreo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98024"/>
            <a:ext cx="5029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980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6584"/>
            <a:ext cx="10408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PIE — 400.000 niños financiados, partidas abiertas para recursos de apoyo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85576"/>
            <a:ext cx="5029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55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94136"/>
            <a:ext cx="10408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Las instituciones ya buscan herramientas digitales — la distribución B2B2C es posible hoy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555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 &amp; Financiamiento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85760"/>
            <a:ext cx="53643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D8E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8680"/>
            <a:ext cx="7315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3544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3544"/>
            <a:ext cx="43584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Datos piloto (D7, D14, D30)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91600"/>
            <a:ext cx="91440" cy="2103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01912"/>
            <a:ext cx="7315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56776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Mes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56776"/>
            <a:ext cx="43584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Primeras clínicas pagando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804832"/>
            <a:ext cx="91440" cy="2103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5144"/>
            <a:ext cx="7315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70008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Mes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70008"/>
            <a:ext cx="43584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$5-10K MRR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518064"/>
            <a:ext cx="91440" cy="21031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28376"/>
            <a:ext cx="73152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7832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Mes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83240"/>
            <a:ext cx="43584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Expansión LATAM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1085760"/>
            <a:ext cx="53643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261"/>
                </a:solidFill>
                <a:latin typeface="Calibri"/>
              </a:rPr>
              <a:t>Convocatorias activas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588680"/>
            <a:ext cx="5364327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8727" y="1588680"/>
            <a:ext cx="73152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1634400"/>
            <a:ext cx="5090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Open Salcobrand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1881288"/>
            <a:ext cx="5090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22 mar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727" y="2301912"/>
            <a:ext cx="5364327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2301912"/>
            <a:ext cx="73152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2347632"/>
            <a:ext cx="5090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CORFO Capital Semilla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2594520"/>
            <a:ext cx="5090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28 mar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8727" y="3015144"/>
            <a:ext cx="5364327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7" y="3015144"/>
            <a:ext cx="73152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3060864"/>
            <a:ext cx="5090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Wayra Colombia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3307752"/>
            <a:ext cx="5090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31 mar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8727" y="3728376"/>
            <a:ext cx="5364327" cy="54864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8727" y="3728376"/>
            <a:ext cx="73152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1607" y="3774096"/>
            <a:ext cx="5090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ChileMass Emprende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1607" y="4020984"/>
            <a:ext cx="5090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fines mar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18543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5B2D8E"/>
                </a:solidFill>
                <a:latin typeface="Calibri"/>
              </a:rPr>
              <a:t>Los niños ya juegan con mascotas virtuales.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2600" b="1" i="0">
                <a:solidFill>
                  <a:srgbClr val="F4A261"/>
                </a:solidFill>
                <a:latin typeface="Calibri"/>
              </a:rPr>
              <a:t>Nosotros hacemos que eso importe.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800" b="0" i="0">
                <a:solidFill>
                  <a:srgbClr val="1A1A2E"/>
                </a:solidFill>
                <a:latin typeface="Calibri"/>
              </a:rPr>
              <a:t>Hachiko Kids — Piloto activo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/>
            <a:r>
              <a:rPr sz="1600" b="0" i="1">
                <a:solidFill>
                  <a:srgbClr val="5B2D8E"/>
                </a:solidFill>
                <a:latin typeface="Calibri"/>
              </a:rPr>
              <a:t>contacto@hachikokids.com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